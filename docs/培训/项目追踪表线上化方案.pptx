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>
                <a:solidFill>
                  <a:srgbClr val="141413"/>
                </a:solidFill>
                <a:latin typeface="Source Han Serif SC"/>
              </a:rPr>
              <a:t>项目执行跟踪表线上化方案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365760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9319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504E49"/>
                </a:solidFill>
                <a:latin typeface="Microsoft YaHei"/>
              </a:rPr>
              <a:t>多角色协同 · 审批闭环 · 动态管控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A64"/>
                </a:solidFill>
                <a:latin typeface="Microsoft YaHei"/>
              </a:rPr>
              <a:t>Wood China 业务平台  ·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41413"/>
                </a:solidFill>
                <a:latin typeface="Source Han Serif SC"/>
              </a:rPr>
              <a:t>目录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1645920"/>
            <a:ext cx="10058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21945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B365D"/>
                </a:solidFill>
                <a:latin typeface="Source Han Serif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945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41413"/>
                </a:solidFill>
                <a:latin typeface="Source Han Serif SC"/>
              </a:rPr>
              <a:t>业务痛点与核心目标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B365D"/>
                </a:solidFill>
                <a:latin typeface="Source Han Serif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017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41413"/>
                </a:solidFill>
                <a:latin typeface="Source Han Serif SC"/>
              </a:rPr>
              <a:t>角色分工与权限体系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B365D"/>
                </a:solidFill>
                <a:latin typeface="Source Han Serif S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840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41413"/>
                </a:solidFill>
                <a:latin typeface="Source Han Serif SC"/>
              </a:rPr>
              <a:t>填报与审批流转闭环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B365D"/>
                </a:solidFill>
                <a:latin typeface="Source Han Serif S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663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41413"/>
                </a:solidFill>
                <a:latin typeface="Source Han Serif SC"/>
              </a:rPr>
              <a:t>智能高亮与数据管控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ource Han Serif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>
                <a:solidFill>
                  <a:srgbClr val="FFFFFF"/>
                </a:solidFill>
                <a:latin typeface="Source Han Serif SC"/>
              </a:rPr>
              <a:t>业务痛点与核心目标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A64"/>
                </a:solidFill>
                <a:latin typeface="Microsoft YaHei"/>
              </a:rPr>
              <a:t>核心目标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41413"/>
                </a:solidFill>
                <a:latin typeface="Source Han Serif SC"/>
              </a:rPr>
              <a:t>从分散表格走向统一平台，消除数据孤岛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475488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Source Han Serif SC"/>
              </a:rPr>
              <a:t>数据不一致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CRB 合同额与线下 Excel 手工填报存在差异，多版本导致信任危机。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475488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Source Han Serif SC"/>
              </a:rPr>
              <a:t>权限无管控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9184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全员可编辑导致误操作，缺乏细粒度的字段级权限保护。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72000"/>
            <a:ext cx="475488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Source Han Serif SC"/>
              </a:rPr>
              <a:t>追溯困难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历史数据覆盖后无法找回，缺乏审批快照与审计日志。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475488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Source Han Serif SC"/>
              </a:rPr>
              <a:t>协同低效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0352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邮件反复收发 Excel，版本汇总耗时耗力。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ource Han Serif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>
                <a:solidFill>
                  <a:srgbClr val="FFFFFF"/>
                </a:solidFill>
                <a:latin typeface="Source Han Serif SC"/>
              </a:rPr>
              <a:t>角色分工与权限体系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A64"/>
                </a:solidFill>
                <a:latin typeface="Microsoft YaHei"/>
              </a:rPr>
              <a:t>角色矩阵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41413"/>
                </a:solidFill>
                <a:latin typeface="Source Han Serif SC"/>
              </a:rPr>
              <a:t>六大角色协同，实现业务填报与财务核算权责分离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🛡️ 系统管理员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系统运维、特批解锁、报表配置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💰 财务审核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每月 1-3 日专属，全量核对开票/回款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👥 板块管理员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79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板块数据汇总、异常处理、CRB 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5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👷 项目经理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480559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填报产值、进度、WIP，支持导入导出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📊 板块总监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206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查看板块数据，一级审批确认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60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ource Han Serif SC"/>
              </a:rPr>
              <a:t>🏛️ 项目群群主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7607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跨板块查看，二级审批确认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ource Han Serif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>
                <a:solidFill>
                  <a:srgbClr val="FFFFFF"/>
                </a:solidFill>
                <a:latin typeface="Source Han Serif SC"/>
              </a:rPr>
              <a:t>填报与审批流转闭环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A64"/>
                </a:solidFill>
                <a:latin typeface="Microsoft YaHei"/>
              </a:rPr>
              <a:t>月度作业流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41413"/>
                </a:solidFill>
                <a:latin typeface="Source Han Serif SC"/>
              </a:rPr>
              <a:t>以 1/19/25/9 为关键节点的周期性管控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237744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Source Han Serif SC"/>
              </a:rPr>
              <a:t>1日 - 3日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财务专属期
全量核对开票、回款、预收款数据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560320"/>
            <a:ext cx="237744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6A64"/>
                </a:solidFill>
                <a:latin typeface="Source Han Serif SC"/>
              </a:rPr>
              <a:t>19日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38328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填报提醒
自动发送消息督促各角色完成填写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560320"/>
            <a:ext cx="237744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Source Han Serif SC"/>
              </a:rPr>
              <a:t>25日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8328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月度锁定
填报窗口关闭，除管理员外全员冻结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60320"/>
            <a:ext cx="237744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04E49"/>
                </a:solidFill>
                <a:latin typeface="Source Han Serif SC"/>
              </a:rPr>
              <a:t>次月 9日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38328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A"/>
                </a:solidFill>
                <a:latin typeface="Microsoft YaHei"/>
              </a:rPr>
              <a:t>常规解禁
解锁当月修正与未来月份预测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A64"/>
                </a:solidFill>
                <a:latin typeface="Microsoft YaHei"/>
              </a:rPr>
              <a:t>审批快照流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41413"/>
                </a:solidFill>
                <a:latin typeface="Source Han Serif SC"/>
              </a:rPr>
              <a:t>四级流转机制，确保数据全程可追溯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Source Han Serif SC"/>
              </a:rPr>
              <a:t>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560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41413"/>
                </a:solidFill>
                <a:latin typeface="Source Han Serif SC"/>
              </a:rPr>
              <a:t>草稿版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560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板块/中心完成填报，系统锁定生成快照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3200400"/>
            <a:ext cx="365760" cy="0"/>
          </a:xfrm>
          <a:prstGeom prst="line">
            <a:avLst/>
          </a:prstGeom>
          <a:ln w="254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34747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Source Han Serif SC"/>
              </a:rPr>
              <a:t>Approve1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747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41413"/>
                </a:solidFill>
                <a:latin typeface="Source Han Serif SC"/>
              </a:rPr>
              <a:t>总监版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板块总监审核通过，生成二级快照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4114800"/>
            <a:ext cx="365760" cy="0"/>
          </a:xfrm>
          <a:prstGeom prst="line">
            <a:avLst/>
          </a:prstGeom>
          <a:ln w="254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4389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Source Han Serif SC"/>
              </a:rPr>
              <a:t>Approve2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41413"/>
                </a:solidFill>
                <a:latin typeface="Source Han Serif SC"/>
              </a:rPr>
              <a:t>群主版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项目群群主跨板块核对确认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5029200"/>
            <a:ext cx="365760" cy="0"/>
          </a:xfrm>
          <a:prstGeom prst="line">
            <a:avLst/>
          </a:prstGeom>
          <a:ln w="254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53035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Source Han Serif SC"/>
              </a:rPr>
              <a:t>J 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035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41413"/>
                </a:solidFill>
                <a:latin typeface="Source Han Serif SC"/>
              </a:rPr>
              <a:t>归档版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035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系统管理员最终确认，正式归档封存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ource Han Serif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>
                <a:solidFill>
                  <a:srgbClr val="FFFFFF"/>
                </a:solidFill>
                <a:latin typeface="Source Han Serif SC"/>
              </a:rPr>
              <a:t>智能高亮与数据管控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A64"/>
                </a:solidFill>
                <a:latin typeface="Microsoft YaHei"/>
              </a:rPr>
              <a:t>智能管控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41413"/>
                </a:solidFill>
                <a:latin typeface="Source Han Serif SC"/>
              </a:rPr>
              <a:t>Diff 高亮与自动初始化，让变更一目了然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475488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Source Han Serif SC"/>
              </a:rPr>
              <a:t>🔄 数据初始化规则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当月完成/开票/回款自动归零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历史月份数据只读保留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75487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未来预测数据继承并允许修改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4754880" cy="32004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Source Han Serif SC"/>
              </a:rPr>
              <a:t>✨ 变更高亮机制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474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新增项目整行浅色高亮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14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未来预测修改触发单元格高亮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75487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D3D3A"/>
                </a:solidFill>
                <a:latin typeface="Microsoft YaHei"/>
              </a:rPr>
              <a:t>• 联动计算字段受牵连同步高亮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141413"/>
                </a:solidFill>
                <a:latin typeface="Source Han Serif SC"/>
              </a:rPr>
              <a:t>感谢观看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411480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504E49"/>
                </a:solidFill>
                <a:latin typeface="Microsoft YaHei"/>
              </a:rPr>
              <a:t>期待与您共同推进业务数字化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